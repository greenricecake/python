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2" r:id="rId21"/>
    <p:sldId id="275" r:id="rId22"/>
    <p:sldId id="276" r:id="rId23"/>
    <p:sldId id="277" r:id="rId24"/>
    <p:sldId id="278" r:id="rId25"/>
    <p:sldId id="280" r:id="rId26"/>
    <p:sldId id="279" r:id="rId27"/>
    <p:sldId id="281" r:id="rId28"/>
    <p:sldId id="283" r:id="rId29"/>
    <p:sldId id="284" r:id="rId3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6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F7EE98-9506-428E-84AB-951B4F15154F}" v="218" dt="2026-06-10T06:27:47.487"/>
    <p1510:client id="{A79B0375-5E6E-4DCD-9445-61E772290BAF}" v="63" dt="2026-06-11T10:57:45.858"/>
    <p1510:client id="{A7BCBA39-851D-4971-ABA8-3DBB9136AF8E}" v="169" dt="2026-06-11T16:35:11.9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3435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588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135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436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24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16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09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440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87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416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8590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5447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3996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3846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3972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690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281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0730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>
                <a:latin typeface="HY중고딕"/>
                <a:ea typeface="HY중고딕"/>
              </a:rPr>
              <a:t>프로그래밍 입문 깃허브 </a:t>
            </a:r>
            <a:r>
              <a:rPr lang="ko-KR" altLang="en-US">
                <a:latin typeface="HY중고딕"/>
                <a:ea typeface="HY중고딕"/>
              </a:rPr>
              <a:t>정리&amp;</a:t>
            </a:r>
            <a:br>
              <a:rPr lang="ko-KR" altLang="en-US" dirty="0">
                <a:latin typeface="HY중고딕"/>
                <a:ea typeface="HY중고딕"/>
              </a:rPr>
            </a:br>
            <a:r>
              <a:rPr lang="ko-KR" altLang="en-US">
                <a:latin typeface="HY중고딕"/>
                <a:ea typeface="HY중고딕"/>
              </a:rPr>
              <a:t>카드 뽑기 게임 발표</a:t>
            </a:r>
            <a:endParaRPr lang="ko-KR" altLang="en-US" dirty="0">
              <a:latin typeface="HY중고딕"/>
              <a:ea typeface="HY중고딕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>
                <a:ea typeface="HY중고딕"/>
              </a:rPr>
              <a:t>2026864002 김동휘</a:t>
            </a:r>
            <a:endParaRPr lang="ko-KR" altLang="en-US">
              <a:ea typeface="HY중고딕" panose="02030600000101010101" pitchFamily="18" charset="-127"/>
            </a:endParaRPr>
          </a:p>
          <a:p>
            <a:r>
              <a:rPr lang="ko-KR" altLang="en-US">
                <a:ea typeface="HY중고딕"/>
              </a:rPr>
              <a:t>깃허브 주소 : </a:t>
            </a:r>
            <a:r>
              <a:rPr lang="ko-KR" dirty="0">
                <a:ea typeface="+mn-lt"/>
                <a:cs typeface="+mn-lt"/>
              </a:rPr>
              <a:t>https://github.com/GreenRiceCake/python</a:t>
            </a:r>
            <a:r>
              <a:rPr lang="ko-KR" altLang="en-US">
                <a:ea typeface="HY중고딕"/>
                <a:cs typeface="+mn-lt"/>
              </a:rPr>
              <a:t> </a:t>
            </a:r>
            <a:endParaRPr lang="ko-KR" altLang="en-US" dirty="0">
              <a:ea typeface="HY중고딕"/>
            </a:endParaRPr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A1AE116-ABEB-4DF4-9CEE-D3E782373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97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0EB498-0B7A-8D64-9012-CE7A54804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44" y="1321621"/>
            <a:ext cx="5582636" cy="2112690"/>
          </a:xfrm>
          <a:prstGeom prst="rect">
            <a:avLst/>
          </a:prstGeom>
        </p:spPr>
      </p:pic>
      <p:sp>
        <p:nvSpPr>
          <p:cNvPr id="5" name="제목 4">
            <a:extLst>
              <a:ext uri="{FF2B5EF4-FFF2-40B4-BE49-F238E27FC236}">
                <a16:creationId xmlns:a16="http://schemas.microsoft.com/office/drawing/2014/main" id="{5D807A72-3A11-68E3-9B3E-65B5BBFF0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626" y="326987"/>
            <a:ext cx="8534400" cy="1507067"/>
          </a:xfrm>
        </p:spPr>
        <p:txBody>
          <a:bodyPr/>
          <a:lstStyle/>
          <a:p>
            <a:r>
              <a:rPr lang="ko-KR" altLang="en-US">
                <a:ea typeface="HY중고딕"/>
              </a:rPr>
              <a:t>1주차: 파이썬 소개</a:t>
            </a:r>
            <a:endParaRPr lang="ko-KR" altLang="en-US"/>
          </a:p>
        </p:txBody>
      </p:sp>
      <p:pic>
        <p:nvPicPr>
          <p:cNvPr id="6" name="그림 5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D31CA3-6C44-6FDD-176B-B88C62089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9166" y="324069"/>
            <a:ext cx="4896840" cy="3538483"/>
          </a:xfrm>
          <a:prstGeom prst="rect">
            <a:avLst/>
          </a:prstGeom>
        </p:spPr>
      </p:pic>
      <p:pic>
        <p:nvPicPr>
          <p:cNvPr id="7" name="그림 6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692AF69-12C7-278F-3268-014A28EE5E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2551" y="4069694"/>
            <a:ext cx="6971863" cy="150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399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AF43C8-9097-92BA-53F4-3237F5ADD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HY중고딕"/>
              </a:rPr>
              <a:t>1주차: 파이썬 소개</a:t>
            </a:r>
          </a:p>
        </p:txBody>
      </p:sp>
      <p:pic>
        <p:nvPicPr>
          <p:cNvPr id="3" name="그림 2" descr="텍스트, 스크린샷, 폰트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307766-BBF1-8A1F-D258-37A3242752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784" b="270"/>
          <a:stretch>
            <a:fillRect/>
          </a:stretch>
        </p:blipFill>
        <p:spPr>
          <a:xfrm>
            <a:off x="256737" y="90323"/>
            <a:ext cx="2791048" cy="3992488"/>
          </a:xfrm>
          <a:prstGeom prst="rect">
            <a:avLst/>
          </a:prstGeom>
        </p:spPr>
      </p:pic>
      <p:pic>
        <p:nvPicPr>
          <p:cNvPr id="4" name="그림 3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04F0D90-F6E2-8017-08D9-00B5EA5332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027199" y="93061"/>
            <a:ext cx="2782175" cy="4000500"/>
          </a:xfrm>
          <a:prstGeom prst="rect">
            <a:avLst/>
          </a:prstGeom>
        </p:spPr>
      </p:pic>
      <p:pic>
        <p:nvPicPr>
          <p:cNvPr id="5" name="그림 4" descr="텍스트, 전자제품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E28C045-02A9-A878-DE6B-CC42635E16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91"/>
          <a:stretch>
            <a:fillRect/>
          </a:stretch>
        </p:blipFill>
        <p:spPr>
          <a:xfrm>
            <a:off x="5806418" y="95798"/>
            <a:ext cx="2773396" cy="3991740"/>
          </a:xfrm>
          <a:prstGeom prst="rect">
            <a:avLst/>
          </a:prstGeom>
        </p:spPr>
      </p:pic>
      <p:pic>
        <p:nvPicPr>
          <p:cNvPr id="6" name="그림 5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0B6BB0F-3D93-25F5-0F6C-3A5913C4BC9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-394" b="270"/>
          <a:stretch>
            <a:fillRect/>
          </a:stretch>
        </p:blipFill>
        <p:spPr>
          <a:xfrm>
            <a:off x="8585638" y="116051"/>
            <a:ext cx="2772704" cy="3966212"/>
          </a:xfrm>
          <a:prstGeom prst="rect">
            <a:avLst/>
          </a:prstGeom>
        </p:spPr>
      </p:pic>
      <p:pic>
        <p:nvPicPr>
          <p:cNvPr id="7" name="그림 6" descr="텍스트, 전자제품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0F17663-78CF-53C3-BFB6-219DF4C4700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065892" y="3674789"/>
            <a:ext cx="2265089" cy="3080845"/>
          </a:xfrm>
          <a:prstGeom prst="rect">
            <a:avLst/>
          </a:prstGeom>
        </p:spPr>
      </p:pic>
      <p:pic>
        <p:nvPicPr>
          <p:cNvPr id="8" name="그림 7" descr="텍스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9BF34F3-4907-FE84-A07C-D986DBE9F28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8713733" y="3125733"/>
            <a:ext cx="2523030" cy="3624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296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1A1518-A289-6842-83BA-C83A3C368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729" y="204366"/>
            <a:ext cx="8534400" cy="1507067"/>
          </a:xfrm>
        </p:spPr>
        <p:txBody>
          <a:bodyPr/>
          <a:lstStyle/>
          <a:p>
            <a:r>
              <a:rPr lang="ko-KR" altLang="en-US">
                <a:ea typeface="HY중고딕"/>
              </a:rPr>
              <a:t>2주차: 변수와 수식</a:t>
            </a:r>
          </a:p>
        </p:txBody>
      </p:sp>
      <p:pic>
        <p:nvPicPr>
          <p:cNvPr id="3" name="그림 2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797B494-D7B5-9A5F-FDA3-C43B68686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76" y="1586842"/>
            <a:ext cx="5073869" cy="2729625"/>
          </a:xfrm>
          <a:prstGeom prst="rect">
            <a:avLst/>
          </a:prstGeom>
        </p:spPr>
      </p:pic>
      <p:pic>
        <p:nvPicPr>
          <p:cNvPr id="4" name="그림 3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F7F5F11-D76A-8173-38EB-31BBA9D79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861" y="384920"/>
            <a:ext cx="6568966" cy="1936574"/>
          </a:xfrm>
          <a:prstGeom prst="rect">
            <a:avLst/>
          </a:prstGeom>
        </p:spPr>
      </p:pic>
      <p:pic>
        <p:nvPicPr>
          <p:cNvPr id="5" name="그림 4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9485918-4132-19BF-1F7C-3CED3DA458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4345" y="2733862"/>
            <a:ext cx="6096000" cy="342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761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BF743B-5087-7C76-6E21-80F3D0B04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7" y="-224806"/>
            <a:ext cx="8534400" cy="1507067"/>
          </a:xfrm>
        </p:spPr>
        <p:txBody>
          <a:bodyPr/>
          <a:lstStyle/>
          <a:p>
            <a:r>
              <a:rPr lang="ko-KR" altLang="en-US">
                <a:ea typeface="HY중고딕"/>
              </a:rPr>
              <a:t>2주차: 변수와 수식</a:t>
            </a:r>
          </a:p>
        </p:txBody>
      </p:sp>
      <p:pic>
        <p:nvPicPr>
          <p:cNvPr id="3" name="그림 2" descr="텍스트, 스크린샷, 폰트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324BEB9-8E1A-6B8E-3E42-BC0D59CEF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8262" y="-1"/>
            <a:ext cx="2265200" cy="3205657"/>
          </a:xfrm>
          <a:prstGeom prst="rect">
            <a:avLst/>
          </a:prstGeom>
        </p:spPr>
      </p:pic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C4C25DA-236F-BE2E-3026-F2926B9CB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004" y="-2191"/>
            <a:ext cx="2265200" cy="3205657"/>
          </a:xfrm>
          <a:prstGeom prst="rect">
            <a:avLst/>
          </a:prstGeom>
        </p:spPr>
      </p:pic>
      <p:pic>
        <p:nvPicPr>
          <p:cNvPr id="5" name="그림 4" descr="텍스트, 전자제품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44F8089-940F-AD05-EEEF-FEE1221ADE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7469" y="4379"/>
            <a:ext cx="2273959" cy="3205657"/>
          </a:xfrm>
          <a:prstGeom prst="rect">
            <a:avLst/>
          </a:prstGeom>
        </p:spPr>
      </p:pic>
      <p:pic>
        <p:nvPicPr>
          <p:cNvPr id="6" name="그림 5" descr="텍스트, 전자제품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718FC5-1D6A-C1B1-121D-F40EB3E34F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0452" y="3505636"/>
            <a:ext cx="2265200" cy="3205657"/>
          </a:xfrm>
          <a:prstGeom prst="rect">
            <a:avLst/>
          </a:prstGeom>
        </p:spPr>
      </p:pic>
      <p:pic>
        <p:nvPicPr>
          <p:cNvPr id="7" name="그림 6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3928DC-2BAA-5524-F84F-64B2D1FA0C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8193" y="3503447"/>
            <a:ext cx="2265200" cy="3205657"/>
          </a:xfrm>
          <a:prstGeom prst="rect">
            <a:avLst/>
          </a:prstGeom>
        </p:spPr>
      </p:pic>
      <p:pic>
        <p:nvPicPr>
          <p:cNvPr id="8" name="그림 7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8B3CC3-3E1D-F3FC-FBD6-38F0E6314F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9659" y="3501257"/>
            <a:ext cx="2265200" cy="320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897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98CDDC-ABBB-E269-0FD3-B31CF28C4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" y="-303634"/>
            <a:ext cx="8534400" cy="1507067"/>
          </a:xfrm>
        </p:spPr>
        <p:txBody>
          <a:bodyPr/>
          <a:lstStyle/>
          <a:p>
            <a:r>
              <a:rPr lang="ko-KR" altLang="en-US">
                <a:ea typeface="HY중고딕"/>
              </a:rPr>
              <a:t>3주차: 조건문</a:t>
            </a:r>
            <a:endParaRPr lang="ko-KR" altLang="en-US"/>
          </a:p>
        </p:txBody>
      </p:sp>
      <p:pic>
        <p:nvPicPr>
          <p:cNvPr id="3" name="그림 2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DBA0D3F-C0C2-B82F-97C1-EB37FEE35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64" y="970346"/>
            <a:ext cx="5090183" cy="2710137"/>
          </a:xfrm>
          <a:prstGeom prst="rect">
            <a:avLst/>
          </a:prstGeom>
        </p:spPr>
      </p:pic>
      <p:pic>
        <p:nvPicPr>
          <p:cNvPr id="4" name="그림 3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7CB333E-C5BB-4738-85AA-173A042BB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9034" y="3826699"/>
            <a:ext cx="6568966" cy="2716808"/>
          </a:xfrm>
          <a:prstGeom prst="rect">
            <a:avLst/>
          </a:prstGeom>
        </p:spPr>
      </p:pic>
      <p:pic>
        <p:nvPicPr>
          <p:cNvPr id="5" name="그림 4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9B6687-9B20-6549-90A6-4EAA378F55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7901" y="192691"/>
            <a:ext cx="4932268" cy="3372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322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5ADD89-24E5-0CC9-CA43-4773F72EB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" y="-347427"/>
            <a:ext cx="8534400" cy="1507067"/>
          </a:xfrm>
        </p:spPr>
        <p:txBody>
          <a:bodyPr/>
          <a:lstStyle/>
          <a:p>
            <a:r>
              <a:rPr lang="ko-KR" altLang="en-US">
                <a:ea typeface="HY중고딕"/>
              </a:rPr>
              <a:t>3주차: 조건문</a:t>
            </a:r>
            <a:endParaRPr lang="ko-KR" altLang="en-US"/>
          </a:p>
        </p:txBody>
      </p:sp>
      <p:pic>
        <p:nvPicPr>
          <p:cNvPr id="3" name="그림 2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551D66-8D8F-7080-5A03-7D22DDF44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089" y="1664138"/>
            <a:ext cx="2212648" cy="3126827"/>
          </a:xfrm>
          <a:prstGeom prst="rect">
            <a:avLst/>
          </a:prstGeom>
        </p:spPr>
      </p:pic>
      <p:pic>
        <p:nvPicPr>
          <p:cNvPr id="4" name="그림 3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AC9EBC8-6CC7-4D78-9BEE-4D135DD42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2209" y="1670708"/>
            <a:ext cx="2212648" cy="3126827"/>
          </a:xfrm>
          <a:prstGeom prst="rect">
            <a:avLst/>
          </a:prstGeom>
        </p:spPr>
      </p:pic>
      <p:pic>
        <p:nvPicPr>
          <p:cNvPr id="5" name="그림 4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DCD44A0-81D3-5EB6-923F-C08C1F7453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8640" y="1668518"/>
            <a:ext cx="2212648" cy="3126827"/>
          </a:xfrm>
          <a:prstGeom prst="rect">
            <a:avLst/>
          </a:prstGeom>
        </p:spPr>
      </p:pic>
      <p:pic>
        <p:nvPicPr>
          <p:cNvPr id="6" name="그림 5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6118DB4-A637-1FDE-D30C-90EBE8189B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7554" y="1675087"/>
            <a:ext cx="2212648" cy="3126827"/>
          </a:xfrm>
          <a:prstGeom prst="rect">
            <a:avLst/>
          </a:prstGeom>
        </p:spPr>
      </p:pic>
      <p:pic>
        <p:nvPicPr>
          <p:cNvPr id="7" name="그림 6" descr="텍스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7E6E0A1-2D1A-811F-2674-1ABDA5741F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7641" y="1664139"/>
            <a:ext cx="2212648" cy="3126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037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27F2AC-C916-A6BD-B3DE-BF253F825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" y="-286116"/>
            <a:ext cx="8534400" cy="1507067"/>
          </a:xfrm>
        </p:spPr>
        <p:txBody>
          <a:bodyPr/>
          <a:lstStyle/>
          <a:p>
            <a:r>
              <a:rPr lang="ko-KR" altLang="en-US">
                <a:ea typeface="HY중고딕"/>
              </a:rPr>
              <a:t>4주차: 반복문</a:t>
            </a:r>
            <a:endParaRPr lang="ko-KR" altLang="en-US"/>
          </a:p>
        </p:txBody>
      </p:sp>
      <p:pic>
        <p:nvPicPr>
          <p:cNvPr id="3" name="그림 2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EA484E-25CE-4364-7A55-B7DA18C0A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7196" y="799607"/>
            <a:ext cx="6392918" cy="1825407"/>
          </a:xfrm>
          <a:prstGeom prst="rect">
            <a:avLst/>
          </a:prstGeom>
        </p:spPr>
      </p:pic>
      <p:pic>
        <p:nvPicPr>
          <p:cNvPr id="4" name="그림 3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139CD4-14CE-EEB5-5B9F-66C310D21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9" y="1409918"/>
            <a:ext cx="5406697" cy="3381266"/>
          </a:xfrm>
          <a:prstGeom prst="rect">
            <a:avLst/>
          </a:prstGeom>
        </p:spPr>
      </p:pic>
      <p:pic>
        <p:nvPicPr>
          <p:cNvPr id="5" name="그림 4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F3E42C2-897D-3495-4A28-09CDA2CEB4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5655" y="2853771"/>
            <a:ext cx="6096000" cy="2499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340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6C3208-CCDF-CBD5-2820-226569022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" y="-338668"/>
            <a:ext cx="8534400" cy="1507067"/>
          </a:xfrm>
        </p:spPr>
        <p:txBody>
          <a:bodyPr/>
          <a:lstStyle/>
          <a:p>
            <a:r>
              <a:rPr lang="ko-KR" altLang="en-US">
                <a:ea typeface="HY중고딕"/>
              </a:rPr>
              <a:t>4주차: 반복문</a:t>
            </a:r>
            <a:endParaRPr lang="ko-KR" altLang="en-US"/>
          </a:p>
        </p:txBody>
      </p:sp>
      <p:pic>
        <p:nvPicPr>
          <p:cNvPr id="3" name="그림 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ED1D35-8291-E111-9AAE-4A2A88CB1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194" y="656895"/>
            <a:ext cx="2081268" cy="2960415"/>
          </a:xfrm>
          <a:prstGeom prst="rect">
            <a:avLst/>
          </a:prstGeom>
        </p:spPr>
      </p:pic>
      <p:pic>
        <p:nvPicPr>
          <p:cNvPr id="4" name="그림 3" descr="텍스트, 스크린샷, 폰트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910DA7D-FAA0-5AEA-974D-370A7D769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5522" y="654705"/>
            <a:ext cx="2081268" cy="2960415"/>
          </a:xfrm>
          <a:prstGeom prst="rect">
            <a:avLst/>
          </a:prstGeom>
        </p:spPr>
      </p:pic>
      <p:pic>
        <p:nvPicPr>
          <p:cNvPr id="5" name="그림 4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A26E0B9-5B96-8EB2-5809-C4EFC631A8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5401" y="652515"/>
            <a:ext cx="2090027" cy="2960415"/>
          </a:xfrm>
          <a:prstGeom prst="rect">
            <a:avLst/>
          </a:prstGeom>
        </p:spPr>
      </p:pic>
      <p:pic>
        <p:nvPicPr>
          <p:cNvPr id="6" name="그림 5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F2E105-1670-9202-9790-C5DE8EE1D5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0384" y="3558188"/>
            <a:ext cx="2081268" cy="2960415"/>
          </a:xfrm>
          <a:prstGeom prst="rect">
            <a:avLst/>
          </a:prstGeom>
        </p:spPr>
      </p:pic>
      <p:pic>
        <p:nvPicPr>
          <p:cNvPr id="7" name="그림 6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A9FB442-9053-1B25-8572-DA6D6FCA89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7711" y="3564757"/>
            <a:ext cx="2081268" cy="2960415"/>
          </a:xfrm>
          <a:prstGeom prst="rect">
            <a:avLst/>
          </a:prstGeom>
        </p:spPr>
      </p:pic>
      <p:pic>
        <p:nvPicPr>
          <p:cNvPr id="8" name="그림 7" descr="텍스트, 전자제품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E74AC5-8BDF-A0D9-FF3A-3DE0CCFAAA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7591" y="3562567"/>
            <a:ext cx="2081268" cy="2960415"/>
          </a:xfrm>
          <a:prstGeom prst="rect">
            <a:avLst/>
          </a:prstGeom>
        </p:spPr>
      </p:pic>
      <p:pic>
        <p:nvPicPr>
          <p:cNvPr id="9" name="그림 8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F500190-0CC2-5563-270E-E1593D1CC6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8711" y="3560377"/>
            <a:ext cx="2090027" cy="2960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493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1D7324-841C-5FC5-8D3B-7E9562222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" y="-303634"/>
            <a:ext cx="8534400" cy="1507067"/>
          </a:xfrm>
        </p:spPr>
        <p:txBody>
          <a:bodyPr/>
          <a:lstStyle/>
          <a:p>
            <a:r>
              <a:rPr lang="ko-KR" altLang="en-US">
                <a:ea typeface="HY중고딕"/>
              </a:rPr>
              <a:t>5주차: 함수</a:t>
            </a:r>
            <a:endParaRPr lang="ko-KR" altLang="en-US"/>
          </a:p>
        </p:txBody>
      </p:sp>
      <p:pic>
        <p:nvPicPr>
          <p:cNvPr id="3" name="그림 2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7DBD49-C7B8-22F2-CA8E-79B8F83A3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10" y="1103095"/>
            <a:ext cx="5618765" cy="2970157"/>
          </a:xfrm>
          <a:prstGeom prst="rect">
            <a:avLst/>
          </a:prstGeom>
        </p:spPr>
      </p:pic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E63F00-2C1C-B725-7003-2205D97EC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2031" y="645291"/>
            <a:ext cx="6146144" cy="1512176"/>
          </a:xfrm>
          <a:prstGeom prst="rect">
            <a:avLst/>
          </a:prstGeom>
        </p:spPr>
      </p:pic>
      <p:pic>
        <p:nvPicPr>
          <p:cNvPr id="5" name="그림 4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2F3217E-A83B-A6FE-6D8F-18312D6B1C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2068" y="2585723"/>
            <a:ext cx="6279932" cy="2658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425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E576E1-7E2D-998A-6F71-CD0A62071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" y="-277358"/>
            <a:ext cx="8534400" cy="1507067"/>
          </a:xfrm>
        </p:spPr>
        <p:txBody>
          <a:bodyPr/>
          <a:lstStyle/>
          <a:p>
            <a:r>
              <a:rPr lang="ko-KR" altLang="en-US">
                <a:ea typeface="HY중고딕"/>
              </a:rPr>
              <a:t>5주차: 함수</a:t>
            </a:r>
          </a:p>
        </p:txBody>
      </p:sp>
      <p:pic>
        <p:nvPicPr>
          <p:cNvPr id="3" name="그림 2" descr="텍스트, 스크린샷, 폰트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77CDF54-A32B-15AA-CF38-4F5439BF0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53" y="1515243"/>
            <a:ext cx="2308991" cy="3266965"/>
          </a:xfrm>
          <a:prstGeom prst="rect">
            <a:avLst/>
          </a:prstGeom>
        </p:spPr>
      </p:pic>
      <p:pic>
        <p:nvPicPr>
          <p:cNvPr id="4" name="그림 3" descr="텍스트, 폰트, 스크린샷, 편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CDDE558-C408-EB6B-92F8-4407D061A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3385" y="1504294"/>
            <a:ext cx="2308991" cy="3266965"/>
          </a:xfrm>
          <a:prstGeom prst="rect">
            <a:avLst/>
          </a:prstGeom>
        </p:spPr>
      </p:pic>
      <p:pic>
        <p:nvPicPr>
          <p:cNvPr id="5" name="그림 4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A5DA620-6819-8B19-297C-2A3D8AAD7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1126" y="1510864"/>
            <a:ext cx="2308991" cy="3266965"/>
          </a:xfrm>
          <a:prstGeom prst="rect">
            <a:avLst/>
          </a:prstGeom>
        </p:spPr>
      </p:pic>
      <p:pic>
        <p:nvPicPr>
          <p:cNvPr id="6" name="그림 5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0C7977-CBEE-3C26-65FF-35C9BE4921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1350" y="1508674"/>
            <a:ext cx="2308991" cy="3266965"/>
          </a:xfrm>
          <a:prstGeom prst="rect">
            <a:avLst/>
          </a:prstGeom>
        </p:spPr>
      </p:pic>
      <p:pic>
        <p:nvPicPr>
          <p:cNvPr id="7" name="그림 6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7D8C899-BD54-8A85-692E-06E0C63634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1436" y="1497726"/>
            <a:ext cx="2308991" cy="326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339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6CAD7E-6267-A31F-AD6B-8ABF29632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" y="2918"/>
            <a:ext cx="8534400" cy="1507067"/>
          </a:xfrm>
        </p:spPr>
        <p:txBody>
          <a:bodyPr/>
          <a:lstStyle/>
          <a:p>
            <a:r>
              <a:rPr lang="ko-KR" altLang="en-US">
                <a:ea typeface="HY중고딕"/>
              </a:rPr>
              <a:t>6주차: </a:t>
            </a:r>
            <a:r>
              <a:rPr lang="ko-KR">
                <a:solidFill>
                  <a:srgbClr val="F0F6FC"/>
                </a:solidFill>
                <a:ea typeface="HY중고딕"/>
              </a:rPr>
              <a:t>파이썬 자료구조I(리스트)</a:t>
            </a:r>
            <a:endParaRPr lang="ko-KR" altLang="en-US">
              <a:ea typeface="HY중고딕"/>
            </a:endParaRPr>
          </a:p>
          <a:p>
            <a:endParaRPr lang="ko-KR" altLang="en-US" dirty="0">
              <a:ea typeface="HY중고딕"/>
            </a:endParaRPr>
          </a:p>
        </p:txBody>
      </p:sp>
      <p:pic>
        <p:nvPicPr>
          <p:cNvPr id="3" name="그림 2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86A9C9-AD42-6168-1EFC-4EFE6E387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22" y="753241"/>
            <a:ext cx="5484120" cy="5351518"/>
          </a:xfrm>
          <a:prstGeom prst="rect">
            <a:avLst/>
          </a:prstGeom>
        </p:spPr>
      </p:pic>
      <p:pic>
        <p:nvPicPr>
          <p:cNvPr id="4" name="그림 3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5BAC1D0-CF2E-B208-4E93-5C991968B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005" y="819643"/>
            <a:ext cx="6388539" cy="1391198"/>
          </a:xfrm>
          <a:prstGeom prst="rect">
            <a:avLst/>
          </a:prstGeom>
        </p:spPr>
      </p:pic>
      <p:pic>
        <p:nvPicPr>
          <p:cNvPr id="5" name="그림 4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715D8A-B399-F4D9-84AF-0BD27675E1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3568" y="2675155"/>
            <a:ext cx="6096658" cy="1735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1349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BAF13F-A554-777F-E6D1-4AC9CA07B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" y="-364944"/>
            <a:ext cx="8534400" cy="1507067"/>
          </a:xfrm>
        </p:spPr>
        <p:txBody>
          <a:bodyPr/>
          <a:lstStyle/>
          <a:p>
            <a:r>
              <a:rPr lang="ko-KR"/>
              <a:t>6주차: </a:t>
            </a:r>
            <a:r>
              <a:rPr lang="ko-KR">
                <a:solidFill>
                  <a:srgbClr val="F0F6FC"/>
                </a:solidFill>
              </a:rPr>
              <a:t>파이썬 자료구조I(리스트)</a:t>
            </a:r>
            <a:endParaRPr lang="ko-KR"/>
          </a:p>
        </p:txBody>
      </p:sp>
      <p:pic>
        <p:nvPicPr>
          <p:cNvPr id="3" name="그림 2" descr="텍스트, 전자제품, 스크린샷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BB11249-3D8D-3177-8541-9B215FB4C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97" y="1926896"/>
            <a:ext cx="2352786" cy="3328276"/>
          </a:xfrm>
          <a:prstGeom prst="rect">
            <a:avLst/>
          </a:prstGeom>
        </p:spPr>
      </p:pic>
      <p:pic>
        <p:nvPicPr>
          <p:cNvPr id="4" name="그림 3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AFEA25A-3ED3-BCD9-70DF-2EC834FBF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5797" y="1933465"/>
            <a:ext cx="2352786" cy="3328276"/>
          </a:xfrm>
          <a:prstGeom prst="rect">
            <a:avLst/>
          </a:prstGeom>
        </p:spPr>
      </p:pic>
      <p:pic>
        <p:nvPicPr>
          <p:cNvPr id="5" name="그림 4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92CD27-60D3-758F-5B43-57D3A886F7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9676" y="1931276"/>
            <a:ext cx="2361545" cy="3328276"/>
          </a:xfrm>
          <a:prstGeom prst="rect">
            <a:avLst/>
          </a:prstGeom>
        </p:spPr>
      </p:pic>
      <p:pic>
        <p:nvPicPr>
          <p:cNvPr id="6" name="그림 5" descr="텍스트, 전자제품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6D4D096-E5B4-E47C-CC5B-AA87B47BD7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1073" y="1929086"/>
            <a:ext cx="2352786" cy="3328276"/>
          </a:xfrm>
          <a:prstGeom prst="rect">
            <a:avLst/>
          </a:prstGeom>
        </p:spPr>
      </p:pic>
      <p:pic>
        <p:nvPicPr>
          <p:cNvPr id="7" name="그림 6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E92DD68-77A9-0922-1557-C3D0982512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4952" y="1926896"/>
            <a:ext cx="2352786" cy="332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818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B4F37A-2E99-2407-3F2F-6C785608D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" y="-364944"/>
            <a:ext cx="8534400" cy="1507067"/>
          </a:xfrm>
        </p:spPr>
        <p:txBody>
          <a:bodyPr/>
          <a:lstStyle/>
          <a:p>
            <a:r>
              <a:rPr lang="ko-KR" altLang="en-US">
                <a:ea typeface="HY중고딕"/>
              </a:rPr>
              <a:t>7주차: </a:t>
            </a:r>
            <a:r>
              <a:rPr lang="ko-KR">
                <a:solidFill>
                  <a:srgbClr val="F0F6FC"/>
                </a:solidFill>
                <a:ea typeface="HY중고딕"/>
              </a:rPr>
              <a:t>파이썬 자료구조II</a:t>
            </a:r>
            <a:endParaRPr lang="ko-KR" altLang="en-US" dirty="0">
              <a:ea typeface="HY중고딕"/>
            </a:endParaRPr>
          </a:p>
        </p:txBody>
      </p:sp>
      <p:pic>
        <p:nvPicPr>
          <p:cNvPr id="3" name="그림 2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FB1EC7A-B586-968E-6576-7EA57AC43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33" y="1355779"/>
            <a:ext cx="5909224" cy="3883683"/>
          </a:xfrm>
          <a:prstGeom prst="rect">
            <a:avLst/>
          </a:prstGeom>
        </p:spPr>
      </p:pic>
      <p:pic>
        <p:nvPicPr>
          <p:cNvPr id="4" name="그림 3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2D9BF7B-214F-F6CB-A494-F96E6F1C9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282" y="967608"/>
            <a:ext cx="5775435" cy="1322990"/>
          </a:xfrm>
          <a:prstGeom prst="rect">
            <a:avLst/>
          </a:prstGeom>
        </p:spPr>
      </p:pic>
      <p:pic>
        <p:nvPicPr>
          <p:cNvPr id="5" name="그림 4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2B1D1F2-2A83-1F82-9B07-EA5A2A5EF0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5078" y="2865164"/>
            <a:ext cx="5891706" cy="2134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553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A35753-19EF-FE65-881F-B3586F2C1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" y="-294875"/>
            <a:ext cx="8534400" cy="1507067"/>
          </a:xfrm>
        </p:spPr>
        <p:txBody>
          <a:bodyPr/>
          <a:lstStyle/>
          <a:p>
            <a:r>
              <a:rPr lang="ko-KR"/>
              <a:t>7주차: </a:t>
            </a:r>
            <a:r>
              <a:rPr lang="ko-KR">
                <a:solidFill>
                  <a:srgbClr val="F0F6FC"/>
                </a:solidFill>
              </a:rPr>
              <a:t>파이썬 자료구조II</a:t>
            </a:r>
            <a:endParaRPr lang="ko-KR"/>
          </a:p>
        </p:txBody>
      </p:sp>
      <p:pic>
        <p:nvPicPr>
          <p:cNvPr id="3" name="그림 2" descr="텍스트, 스크린샷, 폰트, 편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D309589-6AF5-410B-8B45-96657C2CD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78" y="2128344"/>
            <a:ext cx="2370304" cy="3345794"/>
          </a:xfrm>
          <a:prstGeom prst="rect">
            <a:avLst/>
          </a:prstGeom>
        </p:spPr>
      </p:pic>
      <p:pic>
        <p:nvPicPr>
          <p:cNvPr id="4" name="그림 3" descr="텍스트, 전자제품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1FF435B-1D20-A517-507E-57B643B87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3244" y="2126155"/>
            <a:ext cx="2370304" cy="3345794"/>
          </a:xfrm>
          <a:prstGeom prst="rect">
            <a:avLst/>
          </a:prstGeom>
        </p:spPr>
      </p:pic>
      <p:pic>
        <p:nvPicPr>
          <p:cNvPr id="5" name="그림 4" descr="텍스트, 전자제품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B29286-1377-24AE-641F-77FC9899A8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4641" y="2132723"/>
            <a:ext cx="2370304" cy="3345794"/>
          </a:xfrm>
          <a:prstGeom prst="rect">
            <a:avLst/>
          </a:prstGeom>
        </p:spPr>
      </p:pic>
      <p:pic>
        <p:nvPicPr>
          <p:cNvPr id="6" name="그림 5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CE70C7B-C478-598E-2C42-D38B7A62B7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2312" y="2130533"/>
            <a:ext cx="2370304" cy="3345794"/>
          </a:xfrm>
          <a:prstGeom prst="rect">
            <a:avLst/>
          </a:prstGeom>
        </p:spPr>
      </p:pic>
      <p:pic>
        <p:nvPicPr>
          <p:cNvPr id="7" name="그림 6" descr="텍스트, 전자제품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79E3828-CDA0-35B2-C099-AC58AE154E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0053" y="2128344"/>
            <a:ext cx="2370304" cy="3345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7515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956CE5-76CC-7CEA-9D9F-FDB05E917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" y="-338668"/>
            <a:ext cx="8534400" cy="1507067"/>
          </a:xfrm>
        </p:spPr>
        <p:txBody>
          <a:bodyPr/>
          <a:lstStyle/>
          <a:p>
            <a:r>
              <a:rPr lang="ko-KR" altLang="en-US">
                <a:ea typeface="HY중고딕"/>
              </a:rPr>
              <a:t>8주차: 객체와 클래스</a:t>
            </a:r>
            <a:endParaRPr lang="ko-KR" altLang="en-US"/>
          </a:p>
        </p:txBody>
      </p:sp>
      <p:pic>
        <p:nvPicPr>
          <p:cNvPr id="3" name="그림 2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61D7202-C5C1-E5C4-AE1A-3BFECA8EC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52" y="1036911"/>
            <a:ext cx="5802697" cy="2384317"/>
          </a:xfrm>
          <a:prstGeom prst="rect">
            <a:avLst/>
          </a:prstGeom>
        </p:spPr>
      </p:pic>
      <p:pic>
        <p:nvPicPr>
          <p:cNvPr id="4" name="그림 3" descr="텍스트, 스크린샷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E4D192B-9E87-31B7-16E8-938822CFE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7112" y="414502"/>
            <a:ext cx="6395982" cy="2385410"/>
          </a:xfrm>
          <a:prstGeom prst="rect">
            <a:avLst/>
          </a:prstGeom>
        </p:spPr>
      </p:pic>
      <p:pic>
        <p:nvPicPr>
          <p:cNvPr id="5" name="그림 4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44FDEE-79F7-6184-EB79-D3AD9ECF7E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517" y="3432826"/>
            <a:ext cx="6735380" cy="318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5592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7EA3CB-6CB3-DCD3-8B7A-95A80778B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" y="-356185"/>
            <a:ext cx="8534400" cy="1507067"/>
          </a:xfrm>
        </p:spPr>
        <p:txBody>
          <a:bodyPr/>
          <a:lstStyle/>
          <a:p>
            <a:r>
              <a:rPr lang="ko-KR" altLang="en-US">
                <a:ea typeface="HY중고딕"/>
              </a:rPr>
              <a:t>8주차: 객체와 클래스</a:t>
            </a:r>
            <a:endParaRPr lang="ko-KR" altLang="en-US"/>
          </a:p>
        </p:txBody>
      </p:sp>
      <p:pic>
        <p:nvPicPr>
          <p:cNvPr id="3" name="그림 2" descr="텍스트, 폰트, 스크린샷, 편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0E3BE9-1370-EF3D-00A4-C32AF9CB8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44" y="1270001"/>
            <a:ext cx="3377542" cy="4738413"/>
          </a:xfrm>
          <a:prstGeom prst="rect">
            <a:avLst/>
          </a:prstGeom>
        </p:spPr>
      </p:pic>
      <p:pic>
        <p:nvPicPr>
          <p:cNvPr id="4" name="그림 3" descr="텍스트, 폰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255E225-FFE4-7DA4-B1A9-EA48B4EED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8143" y="1267812"/>
            <a:ext cx="3263680" cy="4738412"/>
          </a:xfrm>
          <a:prstGeom prst="rect">
            <a:avLst/>
          </a:prstGeom>
        </p:spPr>
      </p:pic>
      <p:pic>
        <p:nvPicPr>
          <p:cNvPr id="5" name="그림 4" descr="텍스트, 전자제품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13CF8F6-8FA6-7FF2-88E5-DA96397F4C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4366" y="-83205"/>
            <a:ext cx="2370302" cy="3442137"/>
          </a:xfrm>
          <a:prstGeom prst="rect">
            <a:avLst/>
          </a:prstGeom>
        </p:spPr>
      </p:pic>
      <p:pic>
        <p:nvPicPr>
          <p:cNvPr id="6" name="그림 5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4B786C-F653-1B58-F2DB-1FB453961B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7004" y="-85396"/>
            <a:ext cx="2536716" cy="3599793"/>
          </a:xfrm>
          <a:prstGeom prst="rect">
            <a:avLst/>
          </a:prstGeom>
        </p:spPr>
      </p:pic>
      <p:pic>
        <p:nvPicPr>
          <p:cNvPr id="7" name="그림 6" descr="텍스트, 전자제품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C2343D8-DA55-40CD-283D-11194DFE1D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9986" y="3363311"/>
            <a:ext cx="2536716" cy="3599793"/>
          </a:xfrm>
          <a:prstGeom prst="rect">
            <a:avLst/>
          </a:prstGeom>
        </p:spPr>
      </p:pic>
      <p:pic>
        <p:nvPicPr>
          <p:cNvPr id="8" name="그림 7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AEF0312-8215-6873-56B0-1B2319D8DA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47797" y="3361121"/>
            <a:ext cx="2536716" cy="359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8864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29CCF2-D3EA-94BF-18C1-7BF5BD785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2833" y="2674298"/>
            <a:ext cx="8534400" cy="1507067"/>
          </a:xfrm>
        </p:spPr>
        <p:txBody>
          <a:bodyPr>
            <a:normAutofit/>
          </a:bodyPr>
          <a:lstStyle/>
          <a:p>
            <a:pPr algn="ctr"/>
            <a:r>
              <a:rPr lang="ko-KR" altLang="en-US" sz="5400" b="1">
                <a:ea typeface="HY중고딕"/>
              </a:rPr>
              <a:t>카드 뽑기 게임</a:t>
            </a:r>
          </a:p>
        </p:txBody>
      </p:sp>
    </p:spTree>
    <p:extLst>
      <p:ext uri="{BB962C8B-B14F-4D97-AF65-F5344CB8AC3E}">
        <p14:creationId xmlns:p14="http://schemas.microsoft.com/office/powerpoint/2010/main" val="35162522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0FBE5EC-CD9C-05EF-8DFF-4275B9B52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0475" y="895350"/>
            <a:ext cx="4591050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5761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80C0F7D-F4FE-FEEC-6DFD-C4AFF3781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625" y="1038225"/>
            <a:ext cx="6000750" cy="478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992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1B4E763-5D42-521C-C5BE-0EBD72874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639" y="1826268"/>
            <a:ext cx="4808316" cy="320546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D1AC449-C436-FD59-6903-3FAC266FF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670" y="1822229"/>
            <a:ext cx="5561394" cy="3213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8253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03FBDA0-5CDC-DA16-DB9A-F329A5A9B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27" y="1898067"/>
            <a:ext cx="4997490" cy="307151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E4D442C-F4C6-ABBA-71AA-9278C5C7D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858" y="1891496"/>
            <a:ext cx="5801447" cy="3065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8243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4248D54-2C2B-82A8-9091-215BAFE76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706" y="1592905"/>
            <a:ext cx="9852587" cy="3662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8942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19359B9-BF5C-71D5-C548-CC8236F42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673" y="2546351"/>
            <a:ext cx="6175484" cy="1774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8889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18B4396-4F7A-D8EF-5706-BB08A9699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80" y="546844"/>
            <a:ext cx="5761420" cy="364228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CFD7D0B-8130-5B8B-DF8B-DB530C775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1003" y="841093"/>
            <a:ext cx="6277338" cy="304414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5D24969-8FDA-D644-1B43-0F256CAD72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8542" y="5201192"/>
            <a:ext cx="4425267" cy="641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9438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D208EA-F5AC-208D-8D37-FCA6AC4E9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632" y="-87200"/>
            <a:ext cx="8534400" cy="1507067"/>
          </a:xfrm>
        </p:spPr>
        <p:txBody>
          <a:bodyPr/>
          <a:lstStyle/>
          <a:p>
            <a:r>
              <a:rPr lang="ko-KR" altLang="en-US" b="1">
                <a:ea typeface="HY중고딕"/>
              </a:rPr>
              <a:t>느낀점</a:t>
            </a:r>
            <a:endParaRPr lang="ko-KR" altLang="en-US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43AC7F-647E-5670-B468-DA7FA3366434}"/>
              </a:ext>
            </a:extLst>
          </p:cNvPr>
          <p:cNvSpPr txBox="1"/>
          <p:nvPr/>
        </p:nvSpPr>
        <p:spPr>
          <a:xfrm>
            <a:off x="361949" y="962024"/>
            <a:ext cx="11420475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>
                <a:latin typeface="HYGothic-Medium"/>
                <a:ea typeface="HYGothic-Medium"/>
                <a:cs typeface="+mn-lt"/>
              </a:rPr>
              <a:t>이번에 파이썬 수업에서 배운 변수, 조건문, 반복문, 함수, 리스트, </a:t>
            </a:r>
            <a:r>
              <a:rPr lang="ko-KR" altLang="en-US">
                <a:latin typeface="HYGothic-Medium"/>
                <a:ea typeface="HYGothic-Medium"/>
                <a:cs typeface="+mn-lt"/>
              </a:rPr>
              <a:t>딕셔너리 등의</a:t>
            </a:r>
            <a:r>
              <a:rPr lang="ko-KR">
                <a:latin typeface="HYGothic-Medium"/>
                <a:ea typeface="HYGothic-Medium"/>
                <a:cs typeface="+mn-lt"/>
              </a:rPr>
              <a:t> 내용을 바탕으로 카드 뽑기 게임 GUI 프로그램을 만들어 보면서, 단순히 문법을 외우는 것보다 직접 프로그램을 만들어 보는 것이 더 중요하다는 것을 느꼈다.</a:t>
            </a:r>
          </a:p>
          <a:p>
            <a:endParaRPr lang="ko-KR" altLang="en-US" dirty="0">
              <a:latin typeface="HYGothic-Medium"/>
              <a:ea typeface="HYGothic-Medium"/>
              <a:cs typeface="+mn-lt"/>
            </a:endParaRPr>
          </a:p>
          <a:p>
            <a:r>
              <a:rPr lang="ko-KR" dirty="0">
                <a:latin typeface="HYGothic-Medium"/>
                <a:ea typeface="HYGothic-Medium"/>
                <a:cs typeface="+mn-lt"/>
              </a:rPr>
              <a:t>카드를 리스트로 만들고, 반복문으로 문양과 숫자를 조합하며, </a:t>
            </a:r>
            <a:r>
              <a:rPr lang="ko-KR" dirty="0">
                <a:latin typeface="HYGothic-Medium"/>
                <a:ea typeface="HYGothic-Medium"/>
              </a:rPr>
              <a:t>random</a:t>
            </a:r>
            <a:r>
              <a:rPr lang="ko-KR" dirty="0">
                <a:latin typeface="HYGothic-Medium"/>
                <a:ea typeface="HYGothic-Medium"/>
                <a:cs typeface="+mn-lt"/>
              </a:rPr>
              <a:t> 모듈</a:t>
            </a:r>
            <a:r>
              <a:rPr lang="ko-KR" altLang="en-US" dirty="0">
                <a:latin typeface="HYGothic-Medium"/>
                <a:ea typeface="HYGothic-Medium"/>
                <a:cs typeface="+mn-lt"/>
              </a:rPr>
              <a:t>로</a:t>
            </a:r>
            <a:r>
              <a:rPr lang="ko-KR" dirty="0">
                <a:latin typeface="HYGothic-Medium"/>
                <a:ea typeface="HYGothic-Medium"/>
                <a:cs typeface="+mn-lt"/>
              </a:rPr>
              <a:t> 카드를 </a:t>
            </a:r>
            <a:r>
              <a:rPr lang="ko-KR" altLang="en-US">
                <a:latin typeface="HYGothic-Medium"/>
                <a:ea typeface="HYGothic-Medium"/>
                <a:cs typeface="+mn-lt"/>
              </a:rPr>
              <a:t>섞는</a:t>
            </a:r>
            <a:r>
              <a:rPr lang="ko-KR" dirty="0">
                <a:latin typeface="HYGothic-Medium"/>
                <a:ea typeface="HYGothic-Medium"/>
                <a:cs typeface="+mn-lt"/>
              </a:rPr>
              <a:t> </a:t>
            </a:r>
            <a:r>
              <a:rPr lang="ko-KR" altLang="en-US" dirty="0">
                <a:latin typeface="HYGothic-Medium"/>
                <a:ea typeface="HYGothic-Medium"/>
                <a:cs typeface="+mn-lt"/>
              </a:rPr>
              <a:t>과정은 </a:t>
            </a:r>
            <a:r>
              <a:rPr lang="ko-KR" dirty="0">
                <a:latin typeface="HYGothic-Medium"/>
                <a:ea typeface="HYGothic-Medium"/>
                <a:cs typeface="+mn-lt"/>
              </a:rPr>
              <a:t>수업에서 배운 </a:t>
            </a:r>
            <a:r>
              <a:rPr lang="ko-KR" altLang="en-US" dirty="0">
                <a:latin typeface="HYGothic-Medium"/>
                <a:ea typeface="HYGothic-Medium"/>
                <a:cs typeface="+mn-lt"/>
              </a:rPr>
              <a:t>내용을 적용해 볼 </a:t>
            </a:r>
            <a:r>
              <a:rPr lang="ko-KR" dirty="0">
                <a:latin typeface="HYGothic-Medium"/>
                <a:ea typeface="HYGothic-Medium"/>
                <a:cs typeface="+mn-lt"/>
              </a:rPr>
              <a:t>수 </a:t>
            </a:r>
            <a:r>
              <a:rPr lang="ko-KR" altLang="en-US" dirty="0">
                <a:latin typeface="HYGothic-Medium"/>
                <a:ea typeface="HYGothic-Medium"/>
                <a:cs typeface="+mn-lt"/>
              </a:rPr>
              <a:t>있어서 의미 </a:t>
            </a:r>
            <a:r>
              <a:rPr lang="ko-KR" dirty="0">
                <a:latin typeface="HYGothic-Medium"/>
                <a:ea typeface="HYGothic-Medium"/>
                <a:cs typeface="+mn-lt"/>
              </a:rPr>
              <a:t>있었다. 또한 </a:t>
            </a:r>
            <a:r>
              <a:rPr lang="ko-KR" dirty="0">
                <a:latin typeface="HYGothic-Medium"/>
                <a:ea typeface="HYGothic-Medium"/>
              </a:rPr>
              <a:t>pop()</a:t>
            </a:r>
            <a:r>
              <a:rPr lang="ko-KR" dirty="0">
                <a:latin typeface="HYGothic-Medium"/>
                <a:ea typeface="HYGothic-Medium"/>
                <a:cs typeface="+mn-lt"/>
              </a:rPr>
              <a:t>으로 카드를 </a:t>
            </a:r>
            <a:r>
              <a:rPr lang="ko-KR" altLang="en-US" dirty="0">
                <a:latin typeface="HYGothic-Medium"/>
                <a:ea typeface="HYGothic-Medium"/>
                <a:cs typeface="+mn-lt"/>
              </a:rPr>
              <a:t>한 장씩 </a:t>
            </a:r>
            <a:r>
              <a:rPr lang="ko-KR" dirty="0">
                <a:latin typeface="HYGothic-Medium"/>
                <a:ea typeface="HYGothic-Medium"/>
                <a:cs typeface="+mn-lt"/>
              </a:rPr>
              <a:t>뽑고 조건문으로 목표 카드와 비교하면서 리스트와 </a:t>
            </a:r>
            <a:r>
              <a:rPr lang="ko-KR" altLang="en-US" dirty="0">
                <a:latin typeface="HYGothic-Medium"/>
                <a:ea typeface="HYGothic-Medium"/>
                <a:cs typeface="+mn-lt"/>
              </a:rPr>
              <a:t>조건문이 실제 프로그램에서 어떻게 사용되는지 이해할 수 있었다</a:t>
            </a:r>
            <a:r>
              <a:rPr lang="ko-KR" dirty="0">
                <a:latin typeface="HYGothic-Medium"/>
                <a:ea typeface="HYGothic-Medium"/>
                <a:cs typeface="+mn-lt"/>
              </a:rPr>
              <a:t>.</a:t>
            </a:r>
          </a:p>
          <a:p>
            <a:endParaRPr lang="ko-KR" dirty="0">
              <a:latin typeface="HYGothic-Medium"/>
              <a:ea typeface="HYGothic-Medium"/>
              <a:cs typeface="+mn-lt"/>
            </a:endParaRPr>
          </a:p>
          <a:p>
            <a:r>
              <a:rPr lang="ko-KR">
                <a:latin typeface="HYGothic-Medium"/>
                <a:ea typeface="HYGothic-Medium"/>
                <a:cs typeface="+mn-lt"/>
              </a:rPr>
              <a:t>하지만 가장 어렵게 느껴진 부분은 Tkinter를 이용해 GUI를 </a:t>
            </a:r>
            <a:r>
              <a:rPr lang="ko-KR" altLang="en-US">
                <a:latin typeface="HYGothic-Medium"/>
                <a:ea typeface="HYGothic-Medium"/>
                <a:cs typeface="+mn-lt"/>
              </a:rPr>
              <a:t>구성하는 과정이었다</a:t>
            </a:r>
            <a:r>
              <a:rPr lang="en-US" altLang="ko-KR">
                <a:latin typeface="HYGothic-Medium"/>
                <a:ea typeface="HYGothic-Medium"/>
                <a:cs typeface="+mn-lt"/>
              </a:rPr>
              <a:t>.</a:t>
            </a:r>
            <a:r>
              <a:rPr lang="ko-KR" altLang="en-US">
                <a:latin typeface="HYGothic-Medium"/>
                <a:ea typeface="HYGothic-Medium"/>
                <a:cs typeface="+mn-lt"/>
              </a:rPr>
              <a:t> 콘솔 프로그램과 달리 버튼</a:t>
            </a:r>
            <a:r>
              <a:rPr lang="en-US" altLang="ko-KR">
                <a:latin typeface="HYGothic-Medium"/>
                <a:ea typeface="HYGothic-Medium"/>
                <a:cs typeface="+mn-lt"/>
              </a:rPr>
              <a:t>,</a:t>
            </a:r>
            <a:r>
              <a:rPr lang="ko-KR" altLang="en-US" dirty="0">
                <a:latin typeface="HYGothic-Medium"/>
                <a:ea typeface="HYGothic-Medium"/>
                <a:cs typeface="+mn-lt"/>
              </a:rPr>
              <a:t> </a:t>
            </a:r>
            <a:r>
              <a:rPr lang="ko-KR" altLang="en-US">
                <a:latin typeface="HYGothic-Medium"/>
                <a:ea typeface="HYGothic-Medium"/>
                <a:cs typeface="+mn-lt"/>
              </a:rPr>
              <a:t>라벨</a:t>
            </a:r>
            <a:r>
              <a:rPr lang="en-US" altLang="ko-KR">
                <a:latin typeface="HYGothic-Medium"/>
                <a:ea typeface="HYGothic-Medium"/>
                <a:cs typeface="+mn-lt"/>
              </a:rPr>
              <a:t>,</a:t>
            </a:r>
            <a:r>
              <a:rPr lang="ko-KR" altLang="en-US">
                <a:latin typeface="HYGothic-Medium"/>
                <a:ea typeface="HYGothic-Medium"/>
                <a:cs typeface="+mn-lt"/>
              </a:rPr>
              <a:t> 캔버스</a:t>
            </a:r>
            <a:r>
              <a:rPr lang="en-US" altLang="ko-KR">
                <a:latin typeface="HYGothic-Medium"/>
                <a:ea typeface="HYGothic-Medium"/>
                <a:cs typeface="+mn-lt"/>
              </a:rPr>
              <a:t>,</a:t>
            </a:r>
            <a:r>
              <a:rPr lang="ko-KR" altLang="en-US">
                <a:latin typeface="HYGothic-Medium"/>
                <a:ea typeface="HYGothic-Medium"/>
                <a:cs typeface="+mn-lt"/>
              </a:rPr>
              <a:t> 리스트박스 등을 화면에 배치해야 했고</a:t>
            </a:r>
            <a:r>
              <a:rPr lang="en-US" altLang="ko-KR">
                <a:latin typeface="HYGothic-Medium"/>
                <a:ea typeface="HYGothic-Medium"/>
                <a:cs typeface="+mn-lt"/>
              </a:rPr>
              <a:t>,</a:t>
            </a:r>
            <a:r>
              <a:rPr lang="ko-KR" altLang="en-US" dirty="0">
                <a:latin typeface="HYGothic-Medium"/>
                <a:ea typeface="HYGothic-Medium"/>
                <a:cs typeface="+mn-lt"/>
              </a:rPr>
              <a:t> </a:t>
            </a:r>
            <a:r>
              <a:rPr lang="ko-KR">
                <a:latin typeface="HYGothic-Medium"/>
                <a:ea typeface="HYGothic-Medium"/>
                <a:cs typeface="+mn-lt"/>
              </a:rPr>
              <a:t>버튼을 </a:t>
            </a:r>
            <a:r>
              <a:rPr lang="ko-KR" altLang="en-US">
                <a:latin typeface="HYGothic-Medium"/>
                <a:ea typeface="HYGothic-Medium"/>
                <a:cs typeface="+mn-lt"/>
              </a:rPr>
              <a:t>눌렀을 때 함수가 실행되도록 연결하는 부분도 처음에는 복잡하게 느껴졌다</a:t>
            </a:r>
            <a:r>
              <a:rPr lang="ko-KR">
                <a:latin typeface="HYGothic-Medium"/>
                <a:ea typeface="HYGothic-Medium"/>
                <a:cs typeface="+mn-lt"/>
              </a:rPr>
              <a:t>. </a:t>
            </a:r>
            <a:r>
              <a:rPr lang="ko-KR" altLang="en-US">
                <a:latin typeface="HYGothic-Medium"/>
                <a:ea typeface="HYGothic-Medium"/>
                <a:cs typeface="+mn-lt"/>
              </a:rPr>
              <a:t>특히 </a:t>
            </a:r>
            <a:r>
              <a:rPr lang="ko-KR">
                <a:latin typeface="HYGothic-Medium"/>
                <a:ea typeface="HYGothic-Medium"/>
                <a:cs typeface="+mn-lt"/>
              </a:rPr>
              <a:t>카드 </a:t>
            </a:r>
            <a:r>
              <a:rPr lang="ko-KR" altLang="en-US">
                <a:latin typeface="HYGothic-Medium"/>
                <a:ea typeface="HYGothic-Medium"/>
                <a:cs typeface="+mn-lt"/>
              </a:rPr>
              <a:t>그림을 </a:t>
            </a:r>
            <a:r>
              <a:rPr lang="en-US" altLang="ko-KR">
                <a:latin typeface="HYGothic-Medium"/>
                <a:ea typeface="HYGothic-Medium"/>
                <a:cs typeface="+mn-lt"/>
              </a:rPr>
              <a:t>Canvas</a:t>
            </a:r>
            <a:r>
              <a:rPr lang="ko-KR" altLang="en-US">
                <a:latin typeface="HYGothic-Medium"/>
                <a:ea typeface="HYGothic-Medium"/>
                <a:cs typeface="+mn-lt"/>
              </a:rPr>
              <a:t>에 직접 그리고</a:t>
            </a:r>
            <a:r>
              <a:rPr lang="ko-KR">
                <a:latin typeface="HYGothic-Medium"/>
                <a:ea typeface="HYGothic-Medium"/>
                <a:cs typeface="+mn-lt"/>
              </a:rPr>
              <a:t>, 남은 카드 </a:t>
            </a:r>
            <a:r>
              <a:rPr lang="ko-KR" altLang="en-US">
                <a:latin typeface="HYGothic-Medium"/>
                <a:ea typeface="HYGothic-Medium"/>
                <a:cs typeface="+mn-lt"/>
              </a:rPr>
              <a:t>수나 </a:t>
            </a:r>
            <a:r>
              <a:rPr lang="ko-KR">
                <a:latin typeface="HYGothic-Medium"/>
                <a:ea typeface="HYGothic-Medium"/>
                <a:cs typeface="+mn-lt"/>
              </a:rPr>
              <a:t>뽑은 횟수</a:t>
            </a:r>
            <a:r>
              <a:rPr lang="ko-KR" altLang="en-US">
                <a:latin typeface="HYGothic-Medium"/>
                <a:ea typeface="HYGothic-Medium"/>
                <a:cs typeface="+mn-lt"/>
              </a:rPr>
              <a:t> 같은 화면 정보를 계속 갱신하는 과정에서 </a:t>
            </a:r>
            <a:r>
              <a:rPr lang="en-US" altLang="ko-KR">
                <a:latin typeface="HYGothic-Medium"/>
                <a:ea typeface="HYGothic-Medium"/>
                <a:cs typeface="+mn-lt"/>
              </a:rPr>
              <a:t>GUI</a:t>
            </a:r>
            <a:r>
              <a:rPr lang="ko-KR" altLang="en-US">
                <a:latin typeface="HYGothic-Medium"/>
                <a:ea typeface="HYGothic-Medium"/>
                <a:cs typeface="+mn-lt"/>
              </a:rPr>
              <a:t> 프로그램은 단순히 기능만 만드는 것이 아니라 화면 구성과 사용자 조작까지 함께 생각해야 한다는 것을 알게 되었다</a:t>
            </a:r>
            <a:r>
              <a:rPr lang="ko-KR">
                <a:latin typeface="HYGothic-Medium"/>
                <a:ea typeface="HYGothic-Medium"/>
                <a:cs typeface="+mn-lt"/>
              </a:rPr>
              <a:t>.</a:t>
            </a:r>
            <a:endParaRPr lang="ko-KR" dirty="0">
              <a:latin typeface="HYGothic-Medium"/>
              <a:ea typeface="HYGothic-Medium"/>
              <a:cs typeface="+mn-lt"/>
            </a:endParaRPr>
          </a:p>
          <a:p>
            <a:endParaRPr lang="ko-KR" dirty="0">
              <a:latin typeface="HYGothic-Medium"/>
              <a:ea typeface="HYGothic-Medium"/>
              <a:cs typeface="+mn-lt"/>
            </a:endParaRPr>
          </a:p>
          <a:p>
            <a:r>
              <a:rPr lang="ko-KR" dirty="0">
                <a:latin typeface="HYGothic-Medium"/>
                <a:ea typeface="HYGothic-Medium"/>
                <a:cs typeface="+mn-lt"/>
              </a:rPr>
              <a:t>이번 프로젝트를 통해 파이썬의 기본 문법들이 하나의 프로그램을 만들기 위해 함께 사용된다는 것을 알게 </a:t>
            </a:r>
            <a:r>
              <a:rPr lang="ko-KR" altLang="en-US" dirty="0">
                <a:latin typeface="HYGothic-Medium"/>
                <a:ea typeface="HYGothic-Medium"/>
                <a:cs typeface="+mn-lt"/>
              </a:rPr>
              <a:t>되었고</a:t>
            </a:r>
            <a:r>
              <a:rPr lang="en-US" altLang="ko-KR" dirty="0">
                <a:latin typeface="HYGothic-Medium"/>
                <a:ea typeface="HYGothic-Medium"/>
                <a:cs typeface="+mn-lt"/>
              </a:rPr>
              <a:t>,</a:t>
            </a:r>
            <a:r>
              <a:rPr lang="ko-KR" altLang="en-US" dirty="0">
                <a:latin typeface="HYGothic-Medium"/>
                <a:ea typeface="HYGothic-Medium"/>
                <a:cs typeface="+mn-lt"/>
              </a:rPr>
              <a:t> </a:t>
            </a:r>
            <a:r>
              <a:rPr lang="en-US" altLang="ko-KR" dirty="0" err="1">
                <a:latin typeface="HYGothic-Medium"/>
                <a:ea typeface="HYGothic-Medium"/>
                <a:cs typeface="+mn-lt"/>
              </a:rPr>
              <a:t>Tkinter</a:t>
            </a:r>
            <a:r>
              <a:rPr lang="ko-KR" altLang="en-US" dirty="0">
                <a:latin typeface="HYGothic-Medium"/>
                <a:ea typeface="HYGothic-Medium"/>
                <a:cs typeface="+mn-lt"/>
              </a:rPr>
              <a:t>를 사용하면서 사용자가 직접 조작할 수 있는 프로그램을 만드는 경험을 할 수 있었다</a:t>
            </a:r>
            <a:r>
              <a:rPr lang="ko-KR" dirty="0">
                <a:latin typeface="HYGothic-Medium"/>
                <a:ea typeface="HYGothic-Medium"/>
                <a:cs typeface="+mn-lt"/>
              </a:rPr>
              <a:t>. 앞으로는 지금까지 배워왔던 </a:t>
            </a:r>
            <a:r>
              <a:rPr lang="ko-KR" altLang="en-US" dirty="0">
                <a:latin typeface="HYGothic-Medium"/>
                <a:ea typeface="HYGothic-Medium"/>
                <a:cs typeface="+mn-lt"/>
              </a:rPr>
              <a:t>것들을 응용하여 다른</a:t>
            </a:r>
            <a:r>
              <a:rPr lang="ko-KR" dirty="0">
                <a:latin typeface="HYGothic-Medium"/>
                <a:ea typeface="HYGothic-Medium"/>
                <a:cs typeface="+mn-lt"/>
              </a:rPr>
              <a:t> 프로그램도 만들어 보고 싶다.</a:t>
            </a:r>
          </a:p>
          <a:p>
            <a:pPr algn="l"/>
            <a:endParaRPr lang="ko-KR" dirty="0">
              <a:latin typeface="HYGothic-Medium"/>
              <a:ea typeface="HYGothic-Medium"/>
            </a:endParaRPr>
          </a:p>
        </p:txBody>
      </p:sp>
    </p:spTree>
    <p:extLst>
      <p:ext uri="{BB962C8B-B14F-4D97-AF65-F5344CB8AC3E}">
        <p14:creationId xmlns:p14="http://schemas.microsoft.com/office/powerpoint/2010/main" val="11458659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EF48F1-388E-1448-C03A-9242A67D1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7212" y="486832"/>
            <a:ext cx="8534400" cy="1507067"/>
          </a:xfrm>
        </p:spPr>
        <p:txBody>
          <a:bodyPr>
            <a:normAutofit/>
          </a:bodyPr>
          <a:lstStyle/>
          <a:p>
            <a:pPr algn="ctr"/>
            <a:r>
              <a:rPr lang="ko-KR" altLang="en-US" sz="4800" b="1">
                <a:ea typeface="HY중고딕"/>
              </a:rPr>
              <a:t>예상 점수</a:t>
            </a:r>
            <a:endParaRPr lang="ko-KR" altLang="en-US" sz="48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7C496B-3ED1-E5C6-FE89-BF4A01D91EC4}"/>
              </a:ext>
            </a:extLst>
          </p:cNvPr>
          <p:cNvSpPr txBox="1"/>
          <p:nvPr/>
        </p:nvSpPr>
        <p:spPr>
          <a:xfrm>
            <a:off x="2886074" y="2457449"/>
            <a:ext cx="6410325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4000">
                <a:ea typeface="HY중고딕"/>
              </a:rPr>
              <a:t>GitHub : 15점</a:t>
            </a:r>
          </a:p>
          <a:p>
            <a:pPr algn="ctr"/>
            <a:r>
              <a:rPr lang="ko-KR" altLang="en-US" sz="4000">
                <a:ea typeface="HY중고딕"/>
              </a:rPr>
              <a:t>프로젝트 발표 : 15점</a:t>
            </a:r>
          </a:p>
          <a:p>
            <a:pPr algn="ctr"/>
            <a:r>
              <a:rPr lang="ko-KR" altLang="en-US" sz="4000">
                <a:ea typeface="HY중고딕"/>
              </a:rPr>
              <a:t>총합 30점</a:t>
            </a:r>
            <a:endParaRPr lang="ko-KR" altLang="en-US" sz="4000" dirty="0">
              <a:ea typeface="HY중고딕"/>
            </a:endParaRPr>
          </a:p>
        </p:txBody>
      </p:sp>
    </p:spTree>
    <p:extLst>
      <p:ext uri="{BB962C8B-B14F-4D97-AF65-F5344CB8AC3E}">
        <p14:creationId xmlns:p14="http://schemas.microsoft.com/office/powerpoint/2010/main" val="17467615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D53903-8C47-2F37-F952-B40DE9059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7212" y="2677582"/>
            <a:ext cx="8534400" cy="1507067"/>
          </a:xfrm>
        </p:spPr>
        <p:txBody>
          <a:bodyPr>
            <a:normAutofit/>
          </a:bodyPr>
          <a:lstStyle/>
          <a:p>
            <a:pPr algn="ctr"/>
            <a:r>
              <a:rPr lang="ko-KR" altLang="en-US" sz="6000" b="1">
                <a:ea typeface="HY중고딕"/>
              </a:rPr>
              <a:t>감사합니다!</a:t>
            </a:r>
            <a:endParaRPr lang="ko-KR" altLang="en-US" sz="6000" b="1"/>
          </a:p>
        </p:txBody>
      </p:sp>
    </p:spTree>
    <p:extLst>
      <p:ext uri="{BB962C8B-B14F-4D97-AF65-F5344CB8AC3E}">
        <p14:creationId xmlns:p14="http://schemas.microsoft.com/office/powerpoint/2010/main" val="4246388434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29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0" baseType="lpstr">
      <vt:lpstr>Slice</vt:lpstr>
      <vt:lpstr>프로그래밍 입문 깃허브 정리&amp; 카드 뽑기 게임 발표</vt:lpstr>
      <vt:lpstr>PowerPoint 프레젠테이션</vt:lpstr>
      <vt:lpstr>1주차: 파이썬 소개</vt:lpstr>
      <vt:lpstr>1주차: 파이썬 소개</vt:lpstr>
      <vt:lpstr>2주차: 변수와 수식</vt:lpstr>
      <vt:lpstr>2주차: 변수와 수식</vt:lpstr>
      <vt:lpstr>3주차: 조건문</vt:lpstr>
      <vt:lpstr>3주차: 조건문</vt:lpstr>
      <vt:lpstr>4주차: 반복문</vt:lpstr>
      <vt:lpstr>4주차: 반복문</vt:lpstr>
      <vt:lpstr>5주차: 함수</vt:lpstr>
      <vt:lpstr>5주차: 함수</vt:lpstr>
      <vt:lpstr>6주차: 파이썬 자료구조I(리스트) </vt:lpstr>
      <vt:lpstr>6주차: 파이썬 자료구조I(리스트)</vt:lpstr>
      <vt:lpstr>7주차: 파이썬 자료구조II</vt:lpstr>
      <vt:lpstr>7주차: 파이썬 자료구조II</vt:lpstr>
      <vt:lpstr>8주차: 객체와 클래스</vt:lpstr>
      <vt:lpstr>8주차: 객체와 클래스</vt:lpstr>
      <vt:lpstr>카드 뽑기 게임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느낀점</vt:lpstr>
      <vt:lpstr>예상 점수</vt:lpstr>
      <vt:lpstr>감사합니다!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343</cp:revision>
  <dcterms:created xsi:type="dcterms:W3CDTF">2026-06-07T15:03:09Z</dcterms:created>
  <dcterms:modified xsi:type="dcterms:W3CDTF">2026-06-11T16:35:24Z</dcterms:modified>
</cp:coreProperties>
</file>